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B6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MIRAE ASSET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</a:rPr>
              <a:t>Vibe Coding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55448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Pretendard"/>
              </a:rPr>
              <a:t>WORKSHOP HANDOUT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011680"/>
            <a:ext cx="6766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retendard"/>
              </a:rPr>
              <a:t>Claude Code
워크북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4389120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DA0B8"/>
                </a:solidFill>
                <a:latin typeface="Pretendard"/>
              </a:rPr>
              <a:t>미래에셋생명 · AI 코딩 어시스턴트 활용 워크숍
5시간 과정 가이드북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03504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A98"/>
                </a:solidFill>
                <a:latin typeface="JetBrains Mono"/>
              </a:rPr>
              <a:t>미래에셋생명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02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80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도입 — 왜 AI 코딩 어시스턴트인가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1168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1.1 LLM이 바꾼 업무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677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1.2 챗봇 vs 에이전트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523744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1.3 실제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77977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1.4 오늘의 목표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35808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1.5 워크숍 환경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29184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1.6 오늘 배울 도구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67912"/>
            <a:ext cx="80400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Part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8679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개념 설명 및 시연 — 핵심 기능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8679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2.1~2.8 시작/프롬프트/Plan/권한/CLAUDE.md/Skill/Command/Hook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123944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2.9~2.12 컨텍스트/병렬/성공패턴/주의사항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00016"/>
            <a:ext cx="804000" cy="292608"/>
          </a:xfrm>
          <a:prstGeom prst="round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Part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70001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기능 체험 — 8개의 미션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7000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미션 1~4: Plan / 권한 / CLAUDE.md / Skill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956048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미션 5~8: Command / Hook / 컨텍스트 / 노트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32120"/>
            <a:ext cx="804000" cy="292608"/>
          </a:xfrm>
          <a:prstGeom prst="roundRect">
            <a:avLst/>
          </a:prstGeom>
          <a:solidFill>
            <a:srgbClr val="CB6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Part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5321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실습 프로젝트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53212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7단계 워크플로우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78815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완성 후 손에 남는 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6364224"/>
            <a:ext cx="1244000" cy="292608"/>
          </a:xfrm>
          <a:prstGeom prst="roundRect">
            <a:avLst/>
          </a:prstGeom>
          <a:solidFill>
            <a:srgbClr val="5A7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Appendix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636422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워크숍 이후 — 집에서 혼자 쓰기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6364224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A.1~A.2 CLI/Desktop 설치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662025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A.3~A.5 비교/명령어/안전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LLM이 바꾼 업무 방식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303520" cy="41148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864" cy="4114800"/>
          </a:xfrm>
          <a:prstGeom prst="rect">
            <a:avLst/>
          </a:prstGeom>
          <a:solidFill>
            <a:srgbClr val="5A7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677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A7A98"/>
                </a:solidFill>
                <a:latin typeface="Pretendard"/>
              </a:rPr>
              <a:t>예전에는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484632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AI에게 시키려면 코드를 직접 짜야 했음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보고서 한 편: 자료조사→분류→작성→검수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며칠이 걸렸음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사람이 모든 것을 수동으로 처리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103120"/>
            <a:ext cx="5669280" cy="41148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2103120"/>
            <a:ext cx="54864" cy="41148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677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86EFAC"/>
                </a:solidFill>
                <a:latin typeface="Pretendard"/>
              </a:rPr>
              <a:t>지금은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521208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자연어로 말하면 AI가 코드를 만들고 실행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보고서·분석·자동화 결과물이 곧장 완성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사람은 "무엇을, 왜, 어떻게"만 결정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이것을 가능하게 하는 도구: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Claude Code — Anthropic의 공식 CLI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챗봇과 에이전트는 어떻게 다른가요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5720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챗봇 (ChatGPT 등)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에이전트 (Claude Code)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입력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텍스트 질문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텍스트 지시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출력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텍스트 답변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파일 생성 · 코드 실행 · 결과물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컴퓨터 접근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없음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직접 파일 · 터미널 사용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다단계 작업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사람이 단계마다 입력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알아서 끝까지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결과물 종류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텍스트 한 덩어리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보고서, 코드, 데이터, 이미지 등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8463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6EFAC"/>
                </a:solidFill>
                <a:latin typeface="Pretendard"/>
              </a:rPr>
              <a:t>핵심: 챗봇은 "말로 답합니다", 에이전트는 "행동합니다"
비유: 챗봇 = 카카오톡 상담사, 에이전트 = 잘 훈련된 신입 인턴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실제 사례 — 다른 회사들이 얻은 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109728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548640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조직 / 사례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효과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Anthropic 마케팅팀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2.5h → 30min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고객 사례 보고서 작성 시간 단축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ServiceNow (29,000명)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준비 시간 95%↓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영업 미팅 준비 자료 자동 생성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Block (결제 기업)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운영 효율 40%↑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결제·상점 데이터 실시간 문서화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DevOps 엔지니어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5초 → 0.5초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Redis CPU 급증 원인 5분 만에 분석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비개발자 마케터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30분 → 30초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Figma 광고 시안 플러그인 코드 없이 제작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엔터프라이즈 평균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생산성 30~60%↑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코드리뷰·디버깅·문서화 자동화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DA0B8"/>
                </a:solidFill>
                <a:latin typeface="Pretendard"/>
              </a:rPr>
              <a:t>AI 도입은 더 이상 "코딩 잘하는 사람만"의 영역이 아닙니다.
비개발자도 한 줄 지시로 실제 결과물을 만들고 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오늘의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10972800" cy="9144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54864" cy="9144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359152"/>
            <a:ext cx="548640" cy="54864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591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231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5E8EC"/>
                </a:solidFill>
                <a:latin typeface="Pretendard"/>
              </a:rPr>
              <a:t>자연어 한 줄로 보고서를 만들 수 있습니다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39"/>
            <a:ext cx="10972800" cy="9144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91839"/>
            <a:ext cx="54864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3456431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56431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520439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5E8EC"/>
                </a:solidFill>
                <a:latin typeface="Pretendard"/>
              </a:rPr>
              <a:t>본인 부서의 문서 자동화 프로그램을 직접 설계할 수 있습니다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10972800" cy="9144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389120"/>
            <a:ext cx="54864" cy="9144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4553712"/>
            <a:ext cx="548640" cy="548640"/>
          </a:xfrm>
          <a:prstGeom prst="ellipse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5371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177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5E8EC"/>
                </a:solidFill>
                <a:latin typeface="Pretendard"/>
              </a:rPr>
              <a:t>CLAUDE.md, Skill, Command, Hook 등 핵심 기능 5가지를 활용할 수 있습니다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86400"/>
            <a:ext cx="10972800" cy="9144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54864" cy="914400"/>
          </a:xfrm>
          <a:prstGeom prst="rect">
            <a:avLst/>
          </a:prstGeom>
          <a:solidFill>
            <a:srgbClr val="CB6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5650992"/>
            <a:ext cx="548640" cy="548640"/>
          </a:xfrm>
          <a:prstGeom prst="ellipse">
            <a:avLst/>
          </a:prstGeom>
          <a:solidFill>
            <a:srgbClr val="CB6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5099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7150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5E8EC"/>
                </a:solidFill>
                <a:latin typeface="Pretendard"/>
              </a:rPr>
              <a:t>새로운 자동화가 필요할 때 혼자서도 같은 패턴으로 만들 수 있습니다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Pretendard"/>
              </a:rPr>
              <a:t>핵심 다섯 가지 + 한 개의 완성된 결과물, 이 두 가지를 들고 가시는 것이 목표입니다.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1.5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워크숍 환경 안내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Pretendard"/>
              </a:rPr>
              <a:t>공통 컨트롤 (모든 슬라이드 상단)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2148840" cy="8229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54864" cy="8229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Pretendard"/>
              </a:rPr>
              <a:t>전체화면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F5 키도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377440"/>
            <a:ext cx="2148840" cy="8229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2377440"/>
            <a:ext cx="54864" cy="8229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Pretendard"/>
              </a:rPr>
              <a:t>라이트/다크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788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모드 전환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377440"/>
            <a:ext cx="2148840" cy="8229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2377440"/>
            <a:ext cx="54864" cy="8229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Pretendard"/>
              </a:rPr>
              <a:t>확대·축소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788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7단계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377440"/>
            <a:ext cx="2148840" cy="8229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2377440"/>
            <a:ext cx="54864" cy="8229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Pretendard"/>
              </a:rPr>
              <a:t>이전/다음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788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화살표 키 가능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2377440"/>
            <a:ext cx="2148840" cy="8229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2377440"/>
            <a:ext cx="54864" cy="8229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Pretendard"/>
              </a:rPr>
              <a:t>강의 모드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788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DA0B8"/>
                </a:solidFill>
                <a:latin typeface="Pretendard"/>
              </a:rPr>
              <a:t>자동 슬라이드 진행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Pretendard"/>
              </a:rPr>
              <a:t>미션 슬라이드 구성 (두 칸)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931920"/>
            <a:ext cx="4572000" cy="25603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931920"/>
            <a:ext cx="54864" cy="25603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0233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Pretendard"/>
              </a:rPr>
              <a:t>왼쪽 35% — 안내 패널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389120"/>
            <a:ext cx="41148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5E8EC"/>
                </a:solidFill>
                <a:latin typeface="Pretendard"/>
              </a:rPr>
              <a:t>GOAL — 이 미션의 목적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5E8EC"/>
                </a:solidFill>
                <a:latin typeface="Pretendard"/>
              </a:rPr>
              <a:t>INPUT — 내가 입력할 것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5E8EC"/>
                </a:solidFill>
                <a:latin typeface="Pretendard"/>
              </a:rPr>
              <a:t>OUTPUT — 나와야 할 산출물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5E8EC"/>
                </a:solidFill>
                <a:latin typeface="Pretendard"/>
              </a:rPr>
              <a:t>프롬프트 + 힌트 + 모범답안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5E8EC"/>
                </a:solidFill>
                <a:latin typeface="Pretendard"/>
              </a:rPr>
              <a:t>필수/도전 체크 + AI 채점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0" y="3931920"/>
            <a:ext cx="6492240" cy="25603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03520" y="3931920"/>
            <a:ext cx="54864" cy="25603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40233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  <a:latin typeface="Pretendard"/>
              </a:rPr>
              <a:t>오른쪽 65% — 터미널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4389120"/>
            <a:ext cx="59436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5E8EC"/>
                </a:solidFill>
                <a:latin typeface="Pretendard"/>
              </a:rPr>
              <a:t>Claude Code가 이미 설치·준비됨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5E8EC"/>
                </a:solidFill>
                <a:latin typeface="Pretendard"/>
              </a:rPr>
              <a:t>우측 하단 AI 조수가 진행 코칭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5E8EC"/>
                </a:solidFill>
                <a:latin typeface="Pretendard"/>
              </a:rPr>
              <a:t>파일 생성 시 토스트 알림 + 미션 클리어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9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오늘 배울 5가지 핵심 도구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A0B8"/>
                </a:solidFill>
                <a:latin typeface="Pretendard"/>
              </a:rPr>
              <a:t>이 5가지를 순서대로 만들면 업무 자동화가 완성됩니다. 체험(Part 3)에서 하나씩, 실습(Part 4)에서 본인 업무에 적용.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10972800" cy="749808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54864" cy="7498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651760"/>
            <a:ext cx="457200" cy="4572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87752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60A5FA"/>
                </a:solidFill>
                <a:latin typeface="Pretendard"/>
              </a:rPr>
              <a:t>🗺️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6243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  <a:latin typeface="Pretendard"/>
              </a:rPr>
              <a:t>Plan 모드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24328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8EC"/>
                </a:solidFill>
                <a:latin typeface="Pretendard"/>
              </a:rPr>
              <a:t>먼저 설계 → 검토 → 승인 — 엉뚱한 결과 방지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10972800" cy="749808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54864" cy="74980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493008"/>
            <a:ext cx="457200" cy="45720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930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2900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F58220"/>
                </a:solidFill>
                <a:latin typeface="Pretendard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46557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Pretendard"/>
              </a:rPr>
              <a:t>CLAUDE.md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65576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8EC"/>
                </a:solidFill>
                <a:latin typeface="Pretendard"/>
              </a:rPr>
              <a:t>프로젝트 규칙서 — 한 번 쓰면 매번 자동 적용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97096"/>
            <a:ext cx="10972800" cy="749808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97096"/>
            <a:ext cx="54864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4334256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342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270248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10B981"/>
                </a:solidFill>
                <a:latin typeface="Pretendard"/>
              </a:rP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30682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Pretendard"/>
              </a:rPr>
              <a:t>Skill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306824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8EC"/>
                </a:solidFill>
                <a:latin typeface="Pretendard"/>
              </a:rPr>
              <a:t>업무 표준 절차서 — 같은 품질 결과 반복 가능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38344"/>
            <a:ext cx="10972800" cy="749808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038344"/>
            <a:ext cx="54864" cy="7498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7240" y="5175504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17550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111496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38BDF8"/>
                </a:solidFill>
                <a:latin typeface="Pretendard"/>
              </a:rPr>
              <a:t>⌨️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51480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Pretendard"/>
              </a:rPr>
              <a:t>Command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148072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8EC"/>
                </a:solidFill>
                <a:latin typeface="Pretendard"/>
              </a:rPr>
              <a:t>단축 명령어 — /ai-plan 한 줄이면 전체 실행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879592"/>
            <a:ext cx="10972800" cy="749808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879592"/>
            <a:ext cx="54864" cy="7498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77240" y="6016752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0167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5952744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FBBF24"/>
                </a:solidFill>
                <a:latin typeface="Pretendard"/>
              </a:rPr>
              <a:t>🛡️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93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Pretendard"/>
              </a:rPr>
              <a:t>Hook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98932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8EC"/>
                </a:solidFill>
                <a:latin typeface="Pretendard"/>
              </a:rPr>
              <a:t>자동 안전장치 — 개인정보 차단 등 예외 없이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Claude Code 시작하기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DA0B8"/>
                </a:solidFill>
                <a:latin typeface="Pretendard"/>
              </a:rPr>
              <a:t>Claude Code = 나만의 AI 비서. 터미널 안에서 자연어로 말하면 행동합니다.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10972800" cy="10972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54864" cy="109728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8220"/>
                </a:solidFill>
                <a:latin typeface="JetBrains Mono"/>
              </a:rPr>
              <a:t>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6EFAC"/>
                </a:solidFill>
                <a:latin typeface="Pretendard"/>
              </a:rPr>
              <a:t>이게 끝입니다. Claude Code가 시작되고 입력 프롬프트(&gt;)가 나타납니다.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105156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1. 폴더를 살펴보고 파일을 읽습니다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2. 새 파일을 만들거나 기존 파일을 수정합니다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3. 파이썬·노드 같은 코드를 직접 실행합니다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4. 인터넷을 검색해 최신 정보를 가져옵니다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5. 위 과정을 자율적으로 여러 단계 이어 실행합니다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80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좋은 프롬프트 쓰는 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A0B8"/>
                </a:solidFill>
                <a:latin typeface="Pretendard"/>
              </a:rPr>
              <a:t>이 6가지를 챙기면 AI가 한 번에 원하는 결과를 줍니다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3611880" cy="8686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54864" cy="86868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Pretendard"/>
              </a:rPr>
              <a:t>주제 + 맥락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A98"/>
                </a:solidFill>
                <a:latin typeface="Pretendard"/>
              </a:rPr>
              <a:t>무엇을, 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377440"/>
            <a:ext cx="3611880" cy="8686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377440"/>
            <a:ext cx="54864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6280" y="256032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5603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Pretendard"/>
              </a:rPr>
              <a:t>형식 +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A98"/>
                </a:solidFill>
                <a:latin typeface="Pretendard"/>
              </a:rPr>
              <a:t>파일 형태, 섹션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377440"/>
            <a:ext cx="3611880" cy="8686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377440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21040" y="256032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5603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Pretendard"/>
              </a:rPr>
              <a:t>단계별 분리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A98"/>
                </a:solidFill>
                <a:latin typeface="Pretendard"/>
              </a:rPr>
              <a:t>한 번에 다 말고 나눠서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429000"/>
            <a:ext cx="3611880" cy="8686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429000"/>
            <a:ext cx="54864" cy="868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361188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566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Pretendard"/>
              </a:rPr>
              <a:t>예시 제공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886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A98"/>
                </a:solidFill>
                <a:latin typeface="Pretendard"/>
              </a:rPr>
              <a:t>원하는 형태 보여주기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3429000"/>
            <a:ext cx="3611880" cy="8686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3429000"/>
            <a:ext cx="54864" cy="8686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26280" y="3611880"/>
            <a:ext cx="411480" cy="4114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36118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3566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Pretendard"/>
              </a:rPr>
              <a:t>역할 부여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3886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A98"/>
                </a:solidFill>
                <a:latin typeface="Pretendard"/>
              </a:rPr>
              <a:t>AI 에게 관점 지정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3429000"/>
            <a:ext cx="3611880" cy="8686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3429000"/>
            <a:ext cx="54864" cy="86868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21040" y="3611880"/>
            <a:ext cx="411480" cy="411480"/>
          </a:xfrm>
          <a:prstGeom prst="ellipse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36118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3566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CA5A5"/>
                </a:solidFill>
                <a:latin typeface="Pretendard"/>
              </a:rPr>
              <a:t>제한 사항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3886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A98"/>
                </a:solidFill>
                <a:latin typeface="Pretendard"/>
              </a:rPr>
              <a:t>하지 말아야 할 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754880"/>
            <a:ext cx="5029200" cy="16459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754880"/>
            <a:ext cx="54864" cy="16459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4846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CA5A5"/>
                </a:solidFill>
                <a:latin typeface="Pretendard"/>
              </a:rPr>
              <a:t>BEFORE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212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5E8EC"/>
                </a:solidFill>
                <a:latin typeface="JetBrains Mono"/>
              </a:rPr>
              <a:t>"보고서 써줘"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7607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A98"/>
                </a:solidFill>
                <a:latin typeface="Pretendard"/>
              </a:rPr>
              <a:t>6가지 전부 빠짐 → AI 가 추측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5303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58220"/>
                </a:solidFill>
                <a:latin typeface="Pretendard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4754880"/>
            <a:ext cx="5394960" cy="16459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63640" y="4754880"/>
            <a:ext cx="54864" cy="16459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48463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6EFAC"/>
                </a:solidFill>
                <a:latin typeface="Pretendard"/>
              </a:rPr>
              <a:t>AFTER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2120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8EC"/>
                </a:solidFill>
                <a:latin typeface="Pretendard"/>
              </a:rPr>
              <a:t>2025 퇴직연금 시장 현황을
금감원 데이터로 조사. 6섹션 Word.
outputs/ 저장. 3페이지.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5943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6EFAC"/>
                </a:solidFill>
                <a:latin typeface="Pretendard"/>
              </a:rPr>
              <a:t>6원칙 충족 → 한 번에 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Plan 모드 — 본격 작업 전에 설계부터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0972800" cy="12801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12801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8220"/>
                </a:solidFill>
                <a:latin typeface="JetBrains Mono"/>
              </a:rPr>
              <a:t>/plan AI 추진 TF의 "AI 추진 계획 보고서"를 자동으로
만드는 프로그램을 설계할 거야. 단계별 계획을 세워줘.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DA0B8"/>
                </a:solidFill>
                <a:latin typeface="Pretendard"/>
              </a:rPr>
              <a:t>/plan으로 시작하면 Claude는 즉시 실행하지 않고 4~5단계 계획을 먼저 제시합니다.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3611880" cy="20116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297680"/>
            <a:ext cx="54864" cy="201168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Pretendard"/>
              </a:rPr>
              <a:t>방향 조기 차단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9204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8EC"/>
                </a:solidFill>
                <a:latin typeface="Pretendard"/>
              </a:rPr>
              <a:t>의도와 다른 방향이면
실행 전에 막을 수 있습니다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297680"/>
            <a:ext cx="3611880" cy="20116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297680"/>
            <a:ext cx="54864" cy="2011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434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Pretendard"/>
              </a:rPr>
              <a:t>비용 예측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89204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8EC"/>
                </a:solidFill>
                <a:latin typeface="Pretendard"/>
              </a:rPr>
              <a:t>실행에 얼마나 걸릴지,
어떤 도구가 호출될지 미리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297680"/>
            <a:ext cx="3611880" cy="20116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4297680"/>
            <a:ext cx="54864" cy="201168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4434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6EFAC"/>
                </a:solidFill>
                <a:latin typeface="Pretendard"/>
              </a:rPr>
              <a:t>사용자가 흐름 통제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9204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8EC"/>
                </a:solidFill>
                <a:latin typeface="Pretendard"/>
              </a:rPr>
              <a:t>AI 자율 실행이 아니라
사람이 검토 후 승인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권한 시스템 — 매번 Yes를 안 누르는 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6858000" cy="32004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32004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JetBrains Mono"/>
              </a:rPr>
              <a:t>.claude/settings.local.json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64008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JetBrains Mono"/>
              </a:rPr>
              <a:t>{
  "permissions": {
    "allow": [
      "Bash(*)",
      "Read(*)",
      "Write(*)",
      "Edit(*)"
    ]
  }
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011680"/>
            <a:ext cx="4114800" cy="32004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2011680"/>
            <a:ext cx="54864" cy="3200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148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6EFAC"/>
                </a:solidFill>
                <a:latin typeface="Pretendard"/>
              </a:rPr>
              <a:t>워크숍에서는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606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8EC"/>
                </a:solidFill>
                <a:latin typeface="Pretendard"/>
              </a:rPr>
              <a:t>격리된 환경이라 안전합니다.
마음 편히 Yes를 누르세요.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Pretendard"/>
              </a:rPr>
              <a:t>실제 업무에서는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8404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Bash(*) 대신 Bash(python *)
특정 폴더로만 쓰기 제한
rm -rf 등 절대 자동 허용 금지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CLAUDE.md — 프로젝트 규칙서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943600" cy="32004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32004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6EFAC"/>
                </a:solidFill>
                <a:latin typeface="Pretendard"/>
              </a:rPr>
              <a:t>구조 예시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54864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8EC"/>
                </a:solidFill>
                <a:latin typeface="JetBrains Mono"/>
              </a:rPr>
              <a:t># 프로젝트
- 팀: AI 추진 TF
- 목적: AI 추진 계획 보고서 자동 생성
## 코딩 규칙
- 모든 응답, 주석, 문서는 한국어
- 강조 색상: #F58220
- 모든 보고서는 outputs/ 폴더에 저장
## 주요 작업
- 리서치 → 본문 작성 → 검토 → .docx 출력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011680"/>
            <a:ext cx="5029200" cy="14630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2011680"/>
            <a:ext cx="54864" cy="146304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148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CA5A5"/>
                </a:solidFill>
                <a:latin typeface="Pretendard"/>
              </a:rPr>
              <a:t>CLAUDE.md가 없을 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51460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Pretendard"/>
              </a:rPr>
              <a:t>영어로 답하거나, 저장 위치 모르거나,
일반적 톤으로 작성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749039"/>
            <a:ext cx="5029200" cy="14630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60" y="3749039"/>
            <a:ext cx="54864" cy="146304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3886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  <a:latin typeface="Pretendard"/>
              </a:rPr>
              <a:t>CLAUDE.md가 있을 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25196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8EC"/>
                </a:solidFill>
                <a:latin typeface="Pretendard"/>
              </a:rPr>
              <a:t>한국어 + outputs/ 폴더 +
우리 팀 톤 + 브랜드 색상 적용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6EFAC"/>
                </a:solidFill>
                <a:latin typeface="Pretendard"/>
              </a:rPr>
              <a:t>CLAUDE.md = "AI를 우리 팀에 입사시키는 신입사원 교육 매뉴얼"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2.6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Skill — 재사용 가능한 업무 매뉴얼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943600" cy="36576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3657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JetBrains Mono"/>
              </a:rPr>
              <a:t>.claude/skills/ai-plan-report/SKILL.md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54864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JetBrains Mono"/>
              </a:rPr>
              <a:t>---
name: ai-plan-report
description: AI 추진 계획 보고서 작성
---
## 입력
- 부서명, 프로젝트 목표
## 절차
1. 추진 배경 정리 (3~5문장)
2. 적용 사례 리서치 (3개 이상)
3. 도입 로드맵 (단계별 일정)
4. 위험·기대효과 (각 3개)
5. 결론 + .docx 출력
## 출력
- outputs/ai-plan-{부서}-{날짜}.docx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011680"/>
            <a:ext cx="5029200" cy="10972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2011680"/>
            <a:ext cx="54864" cy="109728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148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Pretendard"/>
              </a:rPr>
              <a:t>한 줄 호출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4688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8EC"/>
                </a:solidFill>
                <a:latin typeface="Pretendard"/>
              </a:rPr>
              <a:t>"AI 추진 보고서 만들어 줘"
한 줄이면 5단계 자동 실행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246120"/>
            <a:ext cx="5029200" cy="10972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60" y="3246120"/>
            <a:ext cx="54864" cy="1097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3383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Pretendard"/>
              </a:rPr>
              <a:t>품질 일관성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7033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8EC"/>
                </a:solidFill>
                <a:latin typeface="Pretendard"/>
              </a:rPr>
              <a:t>누가 시키든 동일한 구조의
결과물이 나옵니다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4480560"/>
            <a:ext cx="5029200" cy="10972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4480560"/>
            <a:ext cx="54864" cy="109728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4617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Pretendard"/>
              </a:rPr>
              <a:t>팀 공유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9377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8EC"/>
                </a:solidFill>
                <a:latin typeface="Pretendard"/>
              </a:rPr>
              <a:t>Skill 파일을 깃에 올리면
팀 전체가 같은 절차로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2.7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Command — 단축 명령어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943600" cy="27432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2743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JetBrains Mono"/>
              </a:rPr>
              <a:t>.claude/commands/ai-plan.md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JetBrains Mono"/>
              </a:rPr>
              <a:t>---
description: 주제를 입력하면 보고서 자동 실행
argument-hint: [주제]
allowed-tools: Read, Write, Bash, WebFetch
---
다음 단계를 순서대로 실행:
1. ai-plan-report 스킬로 보고서 작성
2. PowerPoint 생성
3. compliance-check 스킬로 규제 검토
4. outputs/ 폴더에 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011680"/>
            <a:ext cx="5029200" cy="12801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2011680"/>
            <a:ext cx="54864" cy="12801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148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Pretendard"/>
              </a:rPr>
              <a:t>사용 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6060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8220"/>
                </a:solidFill>
                <a:latin typeface="JetBrains Mono"/>
              </a:rPr>
              <a:t>/report 2025 퇴직연금 시장 동향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566160"/>
            <a:ext cx="5029200" cy="6400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60" y="3566160"/>
            <a:ext cx="54864" cy="64008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3657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6EFAC"/>
                </a:solidFill>
                <a:latin typeface="Pretendard"/>
              </a:rPr>
              <a:t>반복 작업 단축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657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Pretendard"/>
              </a:rPr>
              <a:t>자주 쓰는 워크플로우를 한 단어로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4343400"/>
            <a:ext cx="5029200" cy="6400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4343400"/>
            <a:ext cx="54864" cy="64008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4434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6EFAC"/>
                </a:solidFill>
                <a:latin typeface="Pretendard"/>
              </a:rPr>
              <a:t>공유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434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Pretendard"/>
              </a:rPr>
              <a:t>깃에 올리면 팀이 같은 명령어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5120640"/>
            <a:ext cx="5029200" cy="6400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0" y="5120640"/>
            <a:ext cx="54864" cy="64008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5212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6EFAC"/>
                </a:solidFill>
                <a:latin typeface="Pretendard"/>
              </a:rPr>
              <a:t>인자 지원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5212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Pretendard"/>
              </a:rPr>
              <a:t>$ARGUMENTS로 동적 입력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2.8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Hook — 자동 안전장치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6400800" cy="32004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320040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CA5A5"/>
                </a:solidFill>
                <a:latin typeface="Pretendard"/>
              </a:rPr>
              <a:t>PII 차단 Hook 설정 (settings.local.json)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5943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8EC"/>
                </a:solidFill>
                <a:latin typeface="JetBrains Mono"/>
              </a:rPr>
              <a:t>{
  "hooks": {
    "PreToolUse": [{
      "matcher": "Write",
      "hooks": [{
        "type": "command",
        "command": "bash .claude/hooks/check-pii.sh"
      }]
    }]
  }
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011680"/>
            <a:ext cx="4572000" cy="9601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2011680"/>
            <a:ext cx="54864" cy="9601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21214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  <a:latin typeface="Pretendard"/>
              </a:rPr>
              <a:t>컴플라이언스 안심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4231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Pretendard"/>
              </a:rPr>
              <a:t>Claude의 판단에 의존하지 않고
기계적으로 차단합니다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3108960"/>
            <a:ext cx="4572000" cy="9601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0" y="3108960"/>
            <a:ext cx="54864" cy="960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2186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Pretendard"/>
              </a:rPr>
              <a:t>다양한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5204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Pretendard"/>
              </a:rPr>
              <a:t>코드 포맷팅, 테스트 자동 실행,
변경 로그 기록 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4206240"/>
            <a:ext cx="4572000" cy="9601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4206240"/>
            <a:ext cx="54864" cy="9601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4315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Pretendard"/>
              </a:rPr>
              <a:t>타이밍 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6177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Pretendard"/>
              </a:rPr>
              <a:t>PreToolUse / PostToolUse /
Stop 등 선택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Pretendard"/>
              </a:rPr>
              <a:t>핵심: 사용자가 명시한 안전장치는 절대 우회되지 않습니다.
Claude가 아무리 똑똑해도, Hook이 막으면 실행 불가.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02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2.9-2.12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컨텍스트 관리 + 성공 패턴 + 바이브코딩 주의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657600" cy="22860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Pretendard"/>
              </a:rPr>
              <a:t>컨텍스트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200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JetBrains Mono"/>
              </a:rPr>
              <a:t>/clear — 대화 완전 초기화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JetBrains Mono"/>
              </a:rPr>
              <a:t>/compact — 요약해서 토큰 절약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JetBrains Mono"/>
              </a:rPr>
              <a:t>/memory — 영구 메모리 관리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JetBrains Mono"/>
              </a:rPr>
              <a:t>/context — 사용량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657600" cy="22860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11680"/>
            <a:ext cx="54864" cy="22860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48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6EFAC"/>
                </a:solidFill>
                <a:latin typeface="Pretendard"/>
              </a:rPr>
              <a:t>성공 패턴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60320"/>
            <a:ext cx="3200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1. 일단 만들어 봄 (60점 OK)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2. 결과 보고 수정 요청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3. 다시 만듦 (75점)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4. 만족할 때까지 반복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3566160" cy="22860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54864" cy="2286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148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Pretendard"/>
              </a:rPr>
              <a:t>도구 병렬 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560320"/>
            <a:ext cx="3200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Read, Write, Edit, Bash, WebFetch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동시 호출로 시간 절반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의존성 있으면 자동 순차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Pretendard"/>
              </a:rPr>
              <a:t>바이브코딩 주의사항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4937760"/>
          <a:ext cx="109728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위험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방지법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할루시네이션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출처 요구, 결과 직접 검증, 원본 확인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보안 위험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Hook으로 개인정보·키 차단, 권한 좁게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저작권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출처 명시, 허가된 자료만 사용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잘못된 자동화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결과 검토 후 사용, 중간 체크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비밀 유출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API 키 하드코딩 금지, 환경 변수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80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기능 체험 — 8개의 미션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Pretendard"/>
              </a:rPr>
              <a:t>공통 주제: AI 추진 TF의 "AI 추진 계획 보고서 자동화"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Pretendard"/>
              </a:rPr>
              <a:t>각 미션의 구조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3611880" cy="7315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54864" cy="7315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  <a:latin typeface="Pretendard"/>
              </a:rP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0175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8EC"/>
                </a:solidFill>
                <a:latin typeface="Pretendard"/>
              </a:rPr>
              <a:t>이 미션에서 배우는 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926080"/>
            <a:ext cx="3611880" cy="7315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926080"/>
            <a:ext cx="54864" cy="731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017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Pretendard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0175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8EC"/>
                </a:solidFill>
                <a:latin typeface="Pretendard"/>
              </a:rPr>
              <a:t>무엇을 입력하는지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926080"/>
            <a:ext cx="3611880" cy="7315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926080"/>
            <a:ext cx="54864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017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Pretendard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0175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8EC"/>
                </a:solidFill>
                <a:latin typeface="Pretendard"/>
              </a:rPr>
              <a:t>어떤 파일이 나와야 하는지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31920"/>
            <a:ext cx="10972800" cy="25603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54864" cy="25603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690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6EFAC"/>
                </a:solidFill>
                <a:latin typeface="Pretendard"/>
              </a:rPr>
              <a:t>자동 채점 + 체크리스트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80560"/>
            <a:ext cx="105156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프롬프트 — 그대로 복사하거나 직접 작성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✅ 필수 체크리스트 — 통과해야 미션 클리어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⭐ 도전 체크리스트 — 선택, 더 좋은 결과물을 위한 추가 기준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🤖 AI 채점 — 산출물을 AI가 읽고 항목별 점수 + 코멘트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🤖 AI 조수 — 터미널 상단에서 실시간 진행 코칭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📄 산출물 프리뷰 — 파일 생성 후 클릭하면 내용 직접 보기 + ⬇ 다운로드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파일 생성 → 토스트 알림 → 체크 자동 통과 → 미션 클리어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35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MISSION 1-4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미션 1~4: Plan / 권한 / CLAUDE.md /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577840" cy="21488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21488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36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2140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Pretendard"/>
              </a:rPr>
              <a:t>Plan 모드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5E8EC"/>
                </a:solidFill>
                <a:latin typeface="JetBrains Mono"/>
              </a:rPr>
              <a:t>/plan AI 추진 TF의 "AI 추진 계획 보고서"를
자동으로 만드는 프로그램을 설계할 거야.
단계별 계획을 세우고 PLAN.md로 저장해줘.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DA0B8"/>
                </a:solidFill>
                <a:latin typeface="Pretendard"/>
              </a:rPr>
              <a:t>목표: PLAN.md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011680"/>
            <a:ext cx="5577840" cy="21488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011680"/>
            <a:ext cx="54864" cy="2148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39" y="2148840"/>
            <a:ext cx="36400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M2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212140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Pretendard"/>
              </a:rPr>
              <a:t>권한 설정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51460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5E8EC"/>
                </a:solidFill>
                <a:latin typeface="JetBrains Mono"/>
              </a:rPr>
              <a:t>.claude/settings.local.json 파일을 만들어서
Bash, Read, Write, Edit 도구를 자동 허용.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7033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DA0B8"/>
                </a:solidFill>
                <a:latin typeface="Pretendard"/>
              </a:rPr>
              <a:t>목표: .claude/settings.local.json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43400"/>
            <a:ext cx="5577840" cy="21488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343400"/>
            <a:ext cx="54864" cy="214884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480560"/>
            <a:ext cx="364000" cy="292608"/>
          </a:xfrm>
          <a:prstGeom prst="round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45312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6EFAC"/>
                </a:solidFill>
                <a:latin typeface="Pretendard"/>
              </a:rPr>
              <a:t>CLAUDE.md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5E8EC"/>
                </a:solidFill>
                <a:latin typeface="JetBrains Mono"/>
              </a:rPr>
              <a:t>현재 폴더에 새 CLAUDE.md를 만들어줘.
팀: AI 추진 TF, 프로젝트: AI 추진 계획.
한국어, #F58220, 250단어 이내.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35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DA0B8"/>
                </a:solidFill>
                <a:latin typeface="Pretendard"/>
              </a:rPr>
              <a:t>목표: CLAUDE.md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4343400"/>
            <a:ext cx="5577840" cy="21488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4343400"/>
            <a:ext cx="54864" cy="2148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92239" y="4480560"/>
            <a:ext cx="364000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M4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59" y="445312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Pretendard"/>
              </a:rPr>
              <a:t>Skill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84632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5E8EC"/>
                </a:solidFill>
                <a:latin typeface="JetBrains Mono"/>
              </a:rPr>
              <a:t>.claude/skills/ai-plan-report/SKILL.md
입력, 절차(5단계), 출력 형식 명시.
250단어 이내.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6035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DA0B8"/>
                </a:solidFill>
                <a:latin typeface="Pretendard"/>
              </a:rPr>
              <a:t>목표: .claude/skills/.../SKILL.md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35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MISSION 5-8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미션 5~8: Command / Hook / 컨텍스트 / 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577840" cy="21488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21488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364000" cy="292608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M5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2140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Pretendard"/>
              </a:rP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5E8EC"/>
                </a:solidFill>
                <a:latin typeface="JetBrains Mono"/>
              </a:rPr>
              <a:t>"/ai-plan" 슬래시 커맨드를
.claude/commands/ai-plan.md로 만들어줘.
인자로 부서명을 받아 ai-plan-report 호출.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DA0B8"/>
                </a:solidFill>
                <a:latin typeface="Pretendard"/>
              </a:rPr>
              <a:t>목표: .claude/commands/ai-plan.md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011680"/>
            <a:ext cx="5577840" cy="21488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011680"/>
            <a:ext cx="54864" cy="214884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39" y="2148840"/>
            <a:ext cx="364000" cy="292608"/>
          </a:xfrm>
          <a:prstGeom prst="round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M6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212140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CA5A5"/>
                </a:solidFill>
                <a:latin typeface="Pretendard"/>
              </a:rPr>
              <a:t>Hook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51460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5E8EC"/>
                </a:solidFill>
                <a:latin typeface="JetBrains Mono"/>
              </a:rPr>
              <a:t>보고서 저장 전에 개인정보
(주민번호, 전화번호, 이메일) 차단 훅.
.claude/hooks/check-pii.sh + Hook 등록.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7033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DA0B8"/>
                </a:solidFill>
                <a:latin typeface="Pretendard"/>
              </a:rPr>
              <a:t>목표: .claude/hooks/check-pii.sh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43400"/>
            <a:ext cx="5577840" cy="21488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343400"/>
            <a:ext cx="54864" cy="2148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480560"/>
            <a:ext cx="36400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M7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45312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Pretendard"/>
              </a:rPr>
              <a:t>컨텍스트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5E8EC"/>
                </a:solidFill>
                <a:latin typeface="JetBrains Mono"/>
              </a:rPr>
              <a:t>지금까지 AI 추진 계획 보고서 프로젝트로
진행한 사항들을 기억해줘.
그 다음 /compact 실행해줘.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35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DA0B8"/>
                </a:solidFill>
                <a:latin typeface="Pretendard"/>
              </a:rPr>
              <a:t>목표: 대화 요약 + 컨텍스트 압축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4343400"/>
            <a:ext cx="5577840" cy="21488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4343400"/>
            <a:ext cx="54864" cy="2148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92239" y="4480560"/>
            <a:ext cx="36400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M8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59" y="445312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Pretendard"/>
              </a:rPr>
              <a:t>노트 테이킹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84632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5E8EC"/>
                </a:solidFill>
                <a:latin typeface="JetBrains Mono"/>
              </a:rPr>
              <a:t>이 프로젝트는 AI 추진 TF의
"AI 추진 계획 보고서 자동화"야.
이 정보를 메모리에 기억해줘.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6035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DA0B8"/>
                </a:solidFill>
                <a:latin typeface="Pretendard"/>
              </a:rPr>
              <a:t>목표: ~/.claude.json 영구 메모리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80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실습 프로젝트 — 7단계 워크플로우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A0B8"/>
                </a:solidFill>
                <a:latin typeface="Pretendard"/>
              </a:rPr>
              <a:t>모든 도구를 한 번에 활용해서, 본인 업무에 맞는 자동화를 처음부터 끝까지 완성합니다.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2743200" cy="17373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54864" cy="17373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8892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Pretendard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Pretendard"/>
              </a:rPr>
              <a:t>만들 프로그램의 단계별 설계
(PLAN.md 저장)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560320"/>
            <a:ext cx="2743200" cy="17373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2560320"/>
            <a:ext cx="54864" cy="173736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2788920"/>
            <a:ext cx="457200" cy="457200"/>
          </a:xfrm>
          <a:prstGeom prst="ellipse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788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78892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Pretendard"/>
              </a:rPr>
              <a:t>CLAUDE.md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3375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Pretendard"/>
              </a:rPr>
              <a:t>본인 업무에 맞는
프로젝트 규칙서 작성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560320"/>
            <a:ext cx="2743200" cy="17373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560320"/>
            <a:ext cx="54864" cy="17373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83680" y="278892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788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78892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Pretendard"/>
              </a:rPr>
              <a:t>Skill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3375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Pretendard"/>
              </a:rPr>
              <a:t>핵심 업무 절차를
스킬로 정리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2560320"/>
            <a:ext cx="2743200" cy="17373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26880" y="2560320"/>
            <a:ext cx="54864" cy="17373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09760" y="2788920"/>
            <a:ext cx="457200" cy="4572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2788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278892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Pretendard"/>
              </a:rPr>
              <a:t>Command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33375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Pretendard"/>
              </a:rPr>
              <a:t>자주 쓸 워크플로우를
단축 명령어로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72000"/>
            <a:ext cx="3611880" cy="17373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572000"/>
            <a:ext cx="54864" cy="173736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" y="4800600"/>
            <a:ext cx="457200" cy="457200"/>
          </a:xfrm>
          <a:prstGeom prst="ellipse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8006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CA5A5"/>
                </a:solidFill>
                <a:latin typeface="Pretendard"/>
              </a:rPr>
              <a:t>Hook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34924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Pretendard"/>
              </a:rPr>
              <a:t>안전장치 추가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3400" y="4572000"/>
            <a:ext cx="3611880" cy="17373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4572000"/>
            <a:ext cx="54864" cy="1737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26280" y="48006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80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48006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Pretendard"/>
              </a:rPr>
              <a:t>실행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534924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Pretendard"/>
              </a:rPr>
              <a:t>자기 부서 주제로
직접 돌려 보기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4572000"/>
            <a:ext cx="3611880" cy="17373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38160" y="4572000"/>
            <a:ext cx="54864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21040" y="48006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48006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Pretendard"/>
              </a:rPr>
              <a:t>웹페이지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34924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Pretendard"/>
              </a:rPr>
              <a:t>완성 기능을 HTML로
다른 사람도 쓸 수 있게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완성하면 무엇이 손에 남을까요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611880" cy="19202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864" cy="19202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8220"/>
                </a:solidFill>
                <a:latin typeface="Pretendard"/>
              </a:rPr>
              <a:t>Plan 모드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Pretendard"/>
              </a:rPr>
              <a:t>설계 → 검토 → 승인 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3611880" cy="19202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103120"/>
            <a:ext cx="54864" cy="192024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86EFAC"/>
                </a:solidFill>
                <a:latin typeface="Pretendard"/>
              </a:rPr>
              <a:t>CLAUDE.md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432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Pretendard"/>
              </a:rPr>
              <a:t>매번 자동 적용되는 프로젝트 규칙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03120"/>
            <a:ext cx="3611880" cy="19202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10312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Pretendard"/>
              </a:rPr>
              <a:t>Skill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7432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Pretendard"/>
              </a:rPr>
              <a:t>재사용 가능한 표준 업무 매뉴얼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97679"/>
            <a:ext cx="3611880" cy="19202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97679"/>
            <a:ext cx="54864" cy="19202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8055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Pretendard"/>
              </a:rPr>
              <a:t>Command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37759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Pretendard"/>
              </a:rPr>
              <a:t>/명령어 한 줄로 전체 워크플로우 호출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297679"/>
            <a:ext cx="3611880" cy="19202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4297679"/>
            <a:ext cx="54864" cy="192024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48055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CA5A5"/>
                </a:solidFill>
                <a:latin typeface="Pretendard"/>
              </a:rPr>
              <a:t>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937759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Pretendard"/>
              </a:rPr>
              <a:t>예외 없는 자동 안전장치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297679"/>
            <a:ext cx="3611880" cy="19202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4297679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48055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Pretendard"/>
              </a:rPr>
              <a:t>Web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937759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Pretendard"/>
              </a:rPr>
              <a:t>다른 사람도 쓸 수 있는 HTML 인터페이스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6EFAC"/>
                </a:solidFill>
                <a:latin typeface="Pretendard"/>
              </a:rPr>
              <a:t>이 여섯 가지 조합이 여러분의 첫 "AI 자동화 도구"입니다.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A.1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Claude Code (CLI) 개인 PC 설치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0972800" cy="8229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8229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2140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Pretendard"/>
              </a:rPr>
              <a:t>Node.js 18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8EC"/>
                </a:solidFill>
                <a:latin typeface="JetBrains Mono"/>
              </a:rPr>
              <a:t>node --version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nodejs.org 에서 LTS 다운로드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10972800" cy="8229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54864" cy="8229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2724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Pretendard"/>
              </a:rPr>
              <a:t>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8EC"/>
                </a:solidFill>
                <a:latin typeface="JetBrains Mono"/>
              </a:rPr>
              <a:t>git --version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918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Windows: Git for Windows (Git Bash 포함)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10972800" cy="8229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023360"/>
            <a:ext cx="54864" cy="8229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3308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Pretendard"/>
              </a:rPr>
              <a:t>Anthropic 계정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805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8EC"/>
                </a:solidFill>
                <a:latin typeface="JetBrains Mono"/>
              </a:rPr>
              <a:t>claude.ai 가입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976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Pro / Max 구독 권장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20640"/>
            <a:ext cx="10972800" cy="10972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120640"/>
            <a:ext cx="54864" cy="109728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  <a:latin typeface="Pretendard"/>
              </a:rPr>
              <a:t>설치 (모든 OS 공통)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77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8220"/>
                </a:solidFill>
                <a:latin typeface="JetBrains Mono"/>
              </a:rPr>
              <a:t>npm install -g @anthropic-ai/claude-code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A.2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Claude Desktop (GUI 앱) 설치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A0B8"/>
                </a:solidFill>
                <a:latin typeface="Pretendard"/>
              </a:rPr>
              <a:t>claude.ai 다운로드 페이지에서 본인 OS에 맞는 설치 파일을 받으세요.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3611880" cy="16459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Pretendard"/>
              </a:rPr>
              <a:t>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JetBrains Mono"/>
              </a:rPr>
              <a:t>Claude-Setup.exe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A98"/>
                </a:solidFill>
                <a:latin typeface="Pretendard"/>
              </a:rPr>
              <a:t>다음 &gt; 다음 &gt; 설치 완료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743200"/>
            <a:ext cx="3611880" cy="16459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743200"/>
            <a:ext cx="54864" cy="1645920"/>
          </a:xfrm>
          <a:prstGeom prst="rect">
            <a:avLst/>
          </a:prstGeom>
          <a:solidFill>
            <a:srgbClr val="8D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880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8DA0B8"/>
                </a:solidFill>
                <a:latin typeface="Pretendard"/>
              </a:rPr>
              <a:t>macOS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429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JetBrains Mono"/>
              </a:rPr>
              <a:t>Claude.dmg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840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A98"/>
                </a:solidFill>
                <a:latin typeface="Pretendard"/>
              </a:rPr>
              <a:t>다음 &gt; 다음 &gt; 설치 완료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743200"/>
            <a:ext cx="3611880" cy="16459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743200"/>
            <a:ext cx="54864" cy="16459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880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86EFAC"/>
                </a:solidFill>
                <a:latin typeface="Pretendard"/>
              </a:rPr>
              <a:t>Linux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429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JetBrains Mono"/>
              </a:rPr>
              <a:t>.deb / AppImage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840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A98"/>
                </a:solidFill>
                <a:latin typeface="Pretendard"/>
              </a:rPr>
              <a:t>다음 &gt; 다음 &gt; 설치 완료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54880"/>
            <a:ext cx="10972800" cy="14630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54880"/>
            <a:ext cx="54864" cy="14630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92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Pretendard"/>
              </a:rPr>
              <a:t>첫 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57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Pretendard"/>
              </a:rPr>
              <a:t>앱 실행 → Claude 계정 로그인 → 바로 채팅 시작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69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A98"/>
                </a:solidFill>
                <a:latin typeface="Pretendard"/>
              </a:rPr>
              <a:t>MCP 연결 (선택): 메뉴 → 설정 → MCP에서 Filesystem, GitHub, Slack 등 커넥터 연결 가능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A.3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CLI vs Desktop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Claude Code (CLI)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Claude Desktop (GUI)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인터페이스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터미널 (검은 창)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채팅 앱 (윈도우/맥 GUI)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학습 곡선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약간 있음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매우 쉬움 (카톡 수준)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파일 생성·수정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자유롭게 가능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제한적 (대화 첨부만)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코드 직접 실행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가능 (Bash, Python 등)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불가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CLAUDE.md / Skill / Hook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모두 사용 가능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사용 불가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자동화 워크플로우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핵심 기능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거의 불가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적합한 용도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보고서 자동화, 분석, 코드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일상 질문, 글쓰기, 아이디어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6EFAC"/>
                </a:solidFill>
                <a:latin typeface="Pretendard"/>
              </a:rPr>
              <a:t>가벼운 질문·글쓰기 → Desktop
보고서 자동화·파일 작업 → Code
처음에는 둘 다 설치해 두고 상황에 맞게 골라 쓰시는 것이 효율적입니다.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A.4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실행 흐름과 자주 쓰는 명령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611880" cy="10515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10515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25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2140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Pretendard"/>
              </a:rPr>
              <a:t>작업 폴더 이동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JetBrains Mono"/>
              </a:rPr>
              <a:t>cd ~/projects/my-task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011680"/>
            <a:ext cx="3611880" cy="10515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011680"/>
            <a:ext cx="54864" cy="10515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2148840"/>
            <a:ext cx="25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12140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Pretendard"/>
              </a:rPr>
              <a:t>Claude Code 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JetBrains Mono"/>
              </a:rPr>
              <a:t>claude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011680"/>
            <a:ext cx="3611880" cy="10515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011680"/>
            <a:ext cx="54864" cy="10515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20" y="2148840"/>
            <a:ext cx="25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12140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Pretendard"/>
              </a:rPr>
              <a:t>자연어 지시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JetBrains Mono"/>
              </a:rPr>
              <a:t>&gt; *.csv 합쳐서 summary.xlsx 만들어줘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246120"/>
            <a:ext cx="3611880" cy="10515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246120"/>
            <a:ext cx="54864" cy="10515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3383280"/>
            <a:ext cx="25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3558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Pretendard"/>
              </a:rPr>
              <a:t>Claude 작업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703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JetBrains Mono"/>
              </a:rPr>
              <a:t>→ 결과 파일 생성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246120"/>
            <a:ext cx="3611880" cy="10515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246120"/>
            <a:ext cx="54864" cy="10515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80560" y="3383280"/>
            <a:ext cx="25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3558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Pretendard"/>
              </a:rPr>
              <a:t>수정 요청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703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JetBrains Mono"/>
              </a:rPr>
              <a:t>&gt; 매출 컬럼에 천 단위 콤마 추가해줘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246120"/>
            <a:ext cx="3611880" cy="10515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246120"/>
            <a:ext cx="54864" cy="10515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75320" y="3383280"/>
            <a:ext cx="25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33558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Pretendard"/>
              </a:rPr>
              <a:t>종료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703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8EC"/>
                </a:solidFill>
                <a:latin typeface="JetBrains Mono"/>
              </a:rPr>
              <a:t>Ctrl+C 두 번 또는 /exit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48640" y="4663440"/>
          <a:ext cx="10972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명령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효과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JetBrains Mono"/>
                        </a:defRPr>
                      </a:pPr>
                      <a:r>
                        <a:t>/login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Claude 계정 로그인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JetBrains Mono"/>
                        </a:defRPr>
                      </a:pPr>
                      <a:r>
                        <a:t>/clear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현재 대화 초기화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JetBrains Mono"/>
                        </a:defRPr>
                      </a:pPr>
                      <a:r>
                        <a:t>/compact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대화 요약 (긴 대화 시)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JetBrains Mono"/>
                        </a:defRPr>
                      </a:pPr>
                      <a:r>
                        <a:t>/memory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영구 메모리 관리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JetBrains Mono"/>
                        </a:defRPr>
                      </a:pPr>
                      <a:r>
                        <a:t>/context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컨텍스트 사용량 확인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JetBrains Mono"/>
                        </a:defRPr>
                      </a:pPr>
                      <a:r>
                        <a:t>/usage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Claude Max 사용량 확인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JetBrains Mono"/>
                        </a:defRPr>
                      </a:pPr>
                      <a:r>
                        <a:t>/help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명령어 목록</a:t>
                      </a:r>
                    </a:p>
                  </a:txBody>
                  <a:tcPr>
                    <a:solidFill>
                      <a:srgbClr val="061E3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JetBrains Mono"/>
                        </a:defRPr>
                      </a:pPr>
                      <a:r>
                        <a:t>/exit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8EC"/>
                          </a:solidFill>
                          <a:latin typeface="Pretendard"/>
                        </a:defRPr>
                      </a:pPr>
                      <a:r>
                        <a:t>종료</a:t>
                      </a:r>
                    </a:p>
                  </a:txBody>
                  <a:tcPr>
                    <a:solidFill>
                      <a:srgbClr val="0418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7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A.5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안전하게 쓰기 위한 주의사항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577840" cy="20574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2057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Pretendard"/>
              </a:rPr>
              <a:t>권한과 폴더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1417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작업 폴더 분리: 회사/개인 자료를 폴더 단위로 분리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권한 좁히기: Bash(*) 대신 Bash(python *) 부터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CLAUDE.md에 보안 규칙 명시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2011680"/>
            <a:ext cx="5577840" cy="20574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79" y="2011680"/>
            <a:ext cx="54864" cy="205740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21488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CA5A5"/>
                </a:solidFill>
                <a:latin typeface="Pretendard"/>
              </a:rPr>
              <a:t>위험한 명령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2514600"/>
            <a:ext cx="5120640" cy="1417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rm -rf (영구 삭제) — 절대 자동 허용 금지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git push --force (팀원 코드 덮어쓰기)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sudo (관리자 권한) / curl, wget (외부 호출)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97680"/>
            <a:ext cx="5577840" cy="20574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54864" cy="2057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Pretendard"/>
              </a:rPr>
              <a:t>데이터와 개인정보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00600"/>
            <a:ext cx="5120640" cy="1417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회사 내부 자료 → 회사 정책 먼저 확인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주민번호·전화번호·이메일 → Hook 자동 차단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삭제·덮어쓰기 작업 → 백업 먼저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4297680"/>
            <a:ext cx="5577840" cy="20574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79" y="4297680"/>
            <a:ext cx="54864" cy="20574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44348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6EFAC"/>
                </a:solidFill>
                <a:latin typeface="Pretendard"/>
              </a:rPr>
              <a:t>비용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4800600"/>
            <a:ext cx="5120640" cy="1417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Pro/Max 구독 → 월 정액으로 충분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E5E8EC"/>
                </a:solidFill>
                <a:latin typeface="Pretendard"/>
              </a:rPr>
              <a:t>API 키 직접 사용 → 토큰 단위 과금 주의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B6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MIRAE ASSET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</a:rPr>
              <a:t>Vibe Coding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286000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retendard"/>
              </a:rPr>
              <a:t>감사합니다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84048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DA0B8"/>
                </a:solidFill>
                <a:latin typeface="Pretendard"/>
              </a:rPr>
              <a:t>오늘 배운 한 가지를 일주일 안에
본인 업무에 적용해보세요.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493776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7A98"/>
                </a:solidFill>
                <a:latin typeface="JetBrains Mono"/>
              </a:rPr>
              <a:t>미래에셋생명  ·  Claude Code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