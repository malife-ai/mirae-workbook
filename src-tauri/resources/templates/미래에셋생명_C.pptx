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03" r:id="rId2"/>
    <p:sldId id="304" r:id="rId3"/>
    <p:sldId id="310" r:id="rId4"/>
    <p:sldId id="311" r:id="rId5"/>
    <p:sldId id="312" r:id="rId6"/>
    <p:sldId id="308" r:id="rId7"/>
    <p:sldId id="309" r:id="rId8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220"/>
    <a:srgbClr val="00427A"/>
    <a:srgbClr val="D3D5D2"/>
    <a:srgbClr val="48535B"/>
    <a:srgbClr val="043B72"/>
    <a:srgbClr val="0C2D4F"/>
    <a:srgbClr val="0D2D4F"/>
    <a:srgbClr val="E3E4E5"/>
    <a:srgbClr val="F58125"/>
    <a:srgbClr val="0E2D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8683" autoAdjust="0"/>
    <p:restoredTop sz="94687" autoAdjust="0"/>
  </p:normalViewPr>
  <p:slideViewPr>
    <p:cSldViewPr snapToGrid="0" snapToObjects="1">
      <p:cViewPr varScale="1">
        <p:scale>
          <a:sx n="91" d="100"/>
          <a:sy n="91" d="100"/>
        </p:scale>
        <p:origin x="276" y="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9" d="100"/>
          <a:sy n="69" d="100"/>
        </p:scale>
        <p:origin x="3664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ko-KR" altLang="en-US" sz="2000" dirty="0">
                <a:latin typeface="KoPub돋움체_Pro Bold" pitchFamily="18" charset="-127"/>
                <a:ea typeface="KoPub돋움체_Pro Bold" pitchFamily="18" charset="-127"/>
              </a:rPr>
              <a:t>막대그래프 제목</a:t>
            </a:r>
          </a:p>
        </c:rich>
      </c:tx>
      <c:layout>
        <c:manualLayout>
          <c:xMode val="edge"/>
          <c:yMode val="edge"/>
          <c:x val="0.34943999121458214"/>
          <c:y val="0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F5822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92-094B-BB75-335FF89CBE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rgbClr val="043B7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92-094B-BB75-335FF89CBE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rgbClr val="F0B26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92-094B-BB75-335FF89CBEE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계열 4</c:v>
                </c:pt>
              </c:strCache>
            </c:strRef>
          </c:tx>
          <c:spPr>
            <a:solidFill>
              <a:srgbClr val="00A9C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A92-094B-BB75-335FF89CBEE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계열 5</c:v>
                </c:pt>
              </c:strCache>
            </c:strRef>
          </c:tx>
          <c:spPr>
            <a:solidFill>
              <a:srgbClr val="84888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92-094B-BB75-335FF89CBEE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계열 6</c:v>
                </c:pt>
              </c:strCache>
            </c:strRef>
          </c:tx>
          <c:spPr>
            <a:solidFill>
              <a:srgbClr val="0086B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A92-094B-BB75-335FF89CBEE6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계열 7</c:v>
                </c:pt>
              </c:strCache>
            </c:strRef>
          </c:tx>
          <c:spPr>
            <a:solidFill>
              <a:srgbClr val="AE634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A92-094B-BB75-335FF89CBEE6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계열 8</c:v>
                </c:pt>
              </c:strCache>
            </c:strRef>
          </c:tx>
          <c:spPr>
            <a:solidFill>
              <a:srgbClr val="8DC8E8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5A92-094B-BB75-335FF89CBE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Sheet1!$I$2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A92-094B-BB75-335FF89CBEE6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계열 9</c:v>
                </c:pt>
              </c:strCache>
            </c:strRef>
          </c:tx>
          <c:spPr>
            <a:solidFill>
              <a:srgbClr val="CB601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Sheet1!$J$2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A92-094B-BB75-335FF89CBE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307085960"/>
        <c:axId val="307086352"/>
      </c:barChart>
      <c:catAx>
        <c:axId val="30708596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>
                <a:latin typeface="KoPub돋움체_Pro Bold" pitchFamily="18" charset="-127"/>
                <a:ea typeface="KoPub돋움체_Pro Bold" pitchFamily="18" charset="-127"/>
              </a:defRPr>
            </a:pPr>
            <a:endParaRPr lang="ko-KR"/>
          </a:p>
        </c:txPr>
        <c:crossAx val="307086352"/>
        <c:crosses val="autoZero"/>
        <c:auto val="1"/>
        <c:lblAlgn val="ctr"/>
        <c:lblOffset val="100"/>
        <c:noMultiLvlLbl val="0"/>
      </c:catAx>
      <c:valAx>
        <c:axId val="3070863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307085960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"/>
          <c:y val="0.12576922124702999"/>
          <c:w val="1"/>
          <c:h val="6.1286488394420906E-2"/>
        </c:manualLayout>
      </c:layout>
      <c:overlay val="0"/>
      <c:txPr>
        <a:bodyPr/>
        <a:lstStyle/>
        <a:p>
          <a:pPr>
            <a:defRPr sz="1400">
              <a:latin typeface="KoPub돋움체_Pro Light" pitchFamily="18" charset="-127"/>
              <a:ea typeface="KoPub돋움체_Pro Light" pitchFamily="18" charset="-127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ko-KR" altLang="en-US" sz="2000" dirty="0"/>
              <a:t>파이그래프 제목</a:t>
            </a:r>
          </a:p>
        </c:rich>
      </c:tx>
      <c:layout>
        <c:manualLayout>
          <c:xMode val="edge"/>
          <c:yMode val="edge"/>
          <c:x val="0.29839415505754108"/>
          <c:y val="0"/>
        </c:manualLayout>
      </c:layout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</c:v>
                </c:pt>
              </c:strCache>
            </c:strRef>
          </c:tx>
          <c:dPt>
            <c:idx val="0"/>
            <c:bubble3D val="0"/>
            <c:spPr>
              <a:solidFill>
                <a:srgbClr val="F58220"/>
              </a:solidFill>
            </c:spPr>
            <c:extLst>
              <c:ext xmlns:c16="http://schemas.microsoft.com/office/drawing/2014/chart" uri="{C3380CC4-5D6E-409C-BE32-E72D297353CC}">
                <c16:uniqueId val="{00000001-141F-1546-8612-9F3CB289373E}"/>
              </c:ext>
            </c:extLst>
          </c:dPt>
          <c:dPt>
            <c:idx val="1"/>
            <c:bubble3D val="0"/>
            <c:spPr>
              <a:solidFill>
                <a:srgbClr val="043B72"/>
              </a:solidFill>
            </c:spPr>
            <c:extLst>
              <c:ext xmlns:c16="http://schemas.microsoft.com/office/drawing/2014/chart" uri="{C3380CC4-5D6E-409C-BE32-E72D297353CC}">
                <c16:uniqueId val="{00000003-141F-1546-8612-9F3CB289373E}"/>
              </c:ext>
            </c:extLst>
          </c:dPt>
          <c:dPt>
            <c:idx val="2"/>
            <c:bubble3D val="0"/>
            <c:spPr>
              <a:solidFill>
                <a:srgbClr val="F0B26B"/>
              </a:solidFill>
            </c:spPr>
            <c:extLst>
              <c:ext xmlns:c16="http://schemas.microsoft.com/office/drawing/2014/chart" uri="{C3380CC4-5D6E-409C-BE32-E72D297353CC}">
                <c16:uniqueId val="{00000005-141F-1546-8612-9F3CB289373E}"/>
              </c:ext>
            </c:extLst>
          </c:dPt>
          <c:dPt>
            <c:idx val="3"/>
            <c:bubble3D val="0"/>
            <c:spPr>
              <a:solidFill>
                <a:srgbClr val="00A9CE"/>
              </a:solidFill>
            </c:spPr>
            <c:extLst>
              <c:ext xmlns:c16="http://schemas.microsoft.com/office/drawing/2014/chart" uri="{C3380CC4-5D6E-409C-BE32-E72D297353CC}">
                <c16:uniqueId val="{00000007-141F-1546-8612-9F3CB289373E}"/>
              </c:ext>
            </c:extLst>
          </c:dPt>
          <c:dPt>
            <c:idx val="4"/>
            <c:bubble3D val="0"/>
            <c:spPr>
              <a:solidFill>
                <a:srgbClr val="84888B"/>
              </a:solidFill>
            </c:spPr>
            <c:extLst>
              <c:ext xmlns:c16="http://schemas.microsoft.com/office/drawing/2014/chart" uri="{C3380CC4-5D6E-409C-BE32-E72D297353CC}">
                <c16:uniqueId val="{00000009-141F-1546-8612-9F3CB289373E}"/>
              </c:ext>
            </c:extLst>
          </c:dPt>
          <c:dPt>
            <c:idx val="5"/>
            <c:bubble3D val="0"/>
            <c:spPr>
              <a:solidFill>
                <a:srgbClr val="0086B8"/>
              </a:solidFill>
            </c:spPr>
            <c:extLst>
              <c:ext xmlns:c16="http://schemas.microsoft.com/office/drawing/2014/chart" uri="{C3380CC4-5D6E-409C-BE32-E72D297353CC}">
                <c16:uniqueId val="{0000000B-141F-1546-8612-9F3CB289373E}"/>
              </c:ext>
            </c:extLst>
          </c:dPt>
          <c:dPt>
            <c:idx val="6"/>
            <c:bubble3D val="0"/>
            <c:spPr>
              <a:solidFill>
                <a:srgbClr val="AE634E"/>
              </a:solidFill>
            </c:spPr>
            <c:extLst>
              <c:ext xmlns:c16="http://schemas.microsoft.com/office/drawing/2014/chart" uri="{C3380CC4-5D6E-409C-BE32-E72D297353CC}">
                <c16:uniqueId val="{0000000D-141F-1546-8612-9F3CB289373E}"/>
              </c:ext>
            </c:extLst>
          </c:dPt>
          <c:dPt>
            <c:idx val="7"/>
            <c:bubble3D val="0"/>
            <c:spPr>
              <a:solidFill>
                <a:srgbClr val="8DC8E8"/>
              </a:solidFill>
            </c:spPr>
            <c:extLst>
              <c:ext xmlns:c16="http://schemas.microsoft.com/office/drawing/2014/chart" uri="{C3380CC4-5D6E-409C-BE32-E72D297353CC}">
                <c16:uniqueId val="{0000000F-141F-1546-8612-9F3CB289373E}"/>
              </c:ext>
            </c:extLst>
          </c:dPt>
          <c:dPt>
            <c:idx val="8"/>
            <c:bubble3D val="0"/>
            <c:spPr>
              <a:solidFill>
                <a:srgbClr val="CB6015"/>
              </a:solidFill>
              <a:ln>
                <a:solidFill>
                  <a:srgbClr val="CB6015"/>
                </a:solidFill>
              </a:ln>
            </c:spPr>
            <c:extLst>
              <c:ext xmlns:c16="http://schemas.microsoft.com/office/drawing/2014/chart" uri="{C3380CC4-5D6E-409C-BE32-E72D297353CC}">
                <c16:uniqueId val="{00000011-141F-1546-8612-9F3CB289373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chemeClr val="bg1"/>
                    </a:solidFill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  <c:pt idx="4">
                  <c:v>5분기</c:v>
                </c:pt>
                <c:pt idx="5">
                  <c:v>6분기</c:v>
                </c:pt>
                <c:pt idx="6">
                  <c:v>7분기</c:v>
                </c:pt>
                <c:pt idx="7">
                  <c:v>8분기</c:v>
                </c:pt>
                <c:pt idx="8">
                  <c:v>9분기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41F-1546-8612-9F3CB289373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r"/>
      <c:layout>
        <c:manualLayout>
          <c:xMode val="edge"/>
          <c:yMode val="edge"/>
          <c:x val="0.78623076923076884"/>
          <c:y val="0.14328292373690801"/>
          <c:w val="0.13816509747440447"/>
          <c:h val="0.7996552998443901"/>
        </c:manualLayout>
      </c:layout>
      <c:overlay val="0"/>
      <c:txPr>
        <a:bodyPr/>
        <a:lstStyle/>
        <a:p>
          <a:pPr>
            <a:defRPr sz="1400">
              <a:latin typeface="KoPub돋움체_Pro Light" pitchFamily="18" charset="-127"/>
              <a:ea typeface="KoPub돋움체_Pro Light" pitchFamily="18" charset="-127"/>
            </a:defRPr>
          </a:pPr>
          <a:endParaRPr lang="ko-KR"/>
        </a:p>
      </c:txPr>
    </c:legend>
    <c:plotVisOnly val="1"/>
    <c:dispBlanksAs val="zero"/>
    <c:showDLblsOverMax val="0"/>
  </c:chart>
  <c:txPr>
    <a:bodyPr/>
    <a:lstStyle/>
    <a:p>
      <a:pPr>
        <a:defRPr sz="1800">
          <a:latin typeface="KoPub돋움체_Pro Bold" pitchFamily="18" charset="-127"/>
          <a:ea typeface="KoPub돋움체_Pro Bold" pitchFamily="18" charset="-127"/>
        </a:defRPr>
      </a:pPr>
      <a:endParaRPr lang="ko-KR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DD35ED-38AA-FA43-898F-4E40DB415E67}" type="datetimeFigureOut">
              <a:rPr lang="en-US" smtClean="0"/>
              <a:pPr/>
              <a:t>5/18/2020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1A7B1-F135-2044-9502-67C00238DB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67AAF-64E0-724D-BBC7-8B81EA68CAF9}" type="datetimeFigureOut">
              <a:rPr lang="en-US" smtClean="0"/>
              <a:pPr/>
              <a:t>5/18/2020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3DF9D-5F12-094F-87AE-4BC4AF6C8C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98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_Type B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>
            <a:off x="0" y="937222"/>
            <a:ext cx="9906000" cy="397545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F58220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638489" y="1612364"/>
            <a:ext cx="8424000" cy="56832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400">
                <a:solidFill>
                  <a:schemeClr val="bg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제목을 입력하십시오</a:t>
            </a:r>
            <a:r>
              <a:rPr lang="en-US" altLang="ko-KR" dirty="0"/>
              <a:t> (30~40pt)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8489" y="3727302"/>
            <a:ext cx="4629150" cy="343048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r>
              <a:rPr lang="en-US" altLang="ko-KR" dirty="0"/>
              <a:t> (15~20pt)</a:t>
            </a:r>
            <a:endParaRPr lang="en-US" dirty="0"/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610475" y="5630993"/>
            <a:ext cx="1975892" cy="789042"/>
          </a:xfrm>
          <a:prstGeom prst="rect">
            <a:avLst/>
          </a:prstGeom>
        </p:spPr>
      </p:pic>
      <p:sp>
        <p:nvSpPr>
          <p:cNvPr id="18" name="직사각형 17"/>
          <p:cNvSpPr/>
          <p:nvPr userDrawn="1"/>
        </p:nvSpPr>
        <p:spPr>
          <a:xfrm flipV="1">
            <a:off x="0" y="4912681"/>
            <a:ext cx="9906000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F58220"/>
              </a:solidFill>
            </a:endParaRP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38489" y="385169"/>
            <a:ext cx="4629150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000" b="0" i="0" spc="0">
                <a:solidFill>
                  <a:schemeClr val="tx1"/>
                </a:solidFill>
                <a:latin typeface="+mn-ea"/>
                <a:ea typeface="+mn-ea"/>
                <a:cs typeface="KoPub돋움체_Pro Medium"/>
              </a:defRPr>
            </a:lvl1pPr>
          </a:lstStyle>
          <a:p>
            <a:pPr lvl="0"/>
            <a:r>
              <a:rPr lang="ko-KR" altLang="en-US" dirty="0"/>
              <a:t>사내한 심의필 기타메시지</a:t>
            </a:r>
            <a:endParaRPr lang="en-US" dirty="0"/>
          </a:p>
        </p:txBody>
      </p:sp>
      <p:cxnSp>
        <p:nvCxnSpPr>
          <p:cNvPr id="12" name="직선 연결선[R] 11"/>
          <p:cNvCxnSpPr/>
          <p:nvPr userDrawn="1"/>
        </p:nvCxnSpPr>
        <p:spPr>
          <a:xfrm>
            <a:off x="727389" y="3422649"/>
            <a:ext cx="73311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8489" y="4107206"/>
            <a:ext cx="4629150" cy="343048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638488" y="5970592"/>
            <a:ext cx="66889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본 자료는 </a:t>
            </a:r>
            <a:r>
              <a:rPr lang="ko-KR" altLang="en-US" sz="900" b="0" i="0" dirty="0" err="1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미래에셋생명이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 제작한 것이며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투자권유를 위한 광고물로 활용될 수 없고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투자자에게 배포될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.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본 자료에 수록된 내용은 신뢰할만한 자료 및 정보로부터 얻어진 것이나 당사는 </a:t>
            </a:r>
            <a:r>
              <a:rPr lang="ko-KR" altLang="en-US" sz="900" b="0" i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그 </a:t>
            </a:r>
            <a:r>
              <a:rPr lang="ko-KR" altLang="en-US" sz="900" b="0" i="0" smtClean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정확성이나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안정성을 보장할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.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.</a:t>
            </a:r>
            <a:endParaRPr lang="en-US" sz="900" b="0" i="0" dirty="0">
              <a:solidFill>
                <a:schemeClr val="tx1"/>
              </a:solidFill>
              <a:latin typeface="+mn-ea"/>
              <a:ea typeface="+mn-ea"/>
              <a:cs typeface="KoPub돋움체_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63748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_Type A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06425" y="1645940"/>
            <a:ext cx="8415338" cy="2620963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1600" b="0" i="0">
                <a:solidFill>
                  <a:schemeClr val="tx1"/>
                </a:solidFill>
                <a:latin typeface="+mn-ea"/>
                <a:ea typeface="+mn-ea"/>
                <a:cs typeface="KoPub돋움체_Pro Medium"/>
              </a:defRPr>
            </a:lvl1pPr>
            <a:lvl2pPr marL="355600" indent="136525">
              <a:buFont typeface="+mj-lt"/>
              <a:buAutoNum type="arabicPeriod"/>
              <a:defRPr sz="1200">
                <a:solidFill>
                  <a:schemeClr val="tx1"/>
                </a:solidFill>
                <a:latin typeface="+mn-ea"/>
                <a:ea typeface="+mn-ea"/>
                <a:cs typeface="KoPub돋움체_Pro Medium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marL="252000" indent="-252000">
              <a:buFontTx/>
              <a:buAutoNum type="romanUcPeriod"/>
            </a:pPr>
            <a:r>
              <a:rPr lang="ko-KR" altLang="en-US" dirty="0"/>
              <a:t>목차를 입력하십시오</a:t>
            </a:r>
            <a:r>
              <a:rPr lang="en-US" altLang="ko-KR" dirty="0"/>
              <a:t> (15~20pt)</a:t>
            </a:r>
          </a:p>
          <a:p>
            <a:pPr marL="742950" lvl="1" indent="-252000">
              <a:buFontTx/>
              <a:buAutoNum type="romanUcPeriod"/>
            </a:pPr>
            <a:r>
              <a:rPr lang="ko-KR" altLang="en-US" dirty="0"/>
              <a:t>목차를 입력하십시오 </a:t>
            </a:r>
            <a:r>
              <a:rPr lang="en-US" altLang="ko-KR" dirty="0"/>
              <a:t>(8~15pt)</a:t>
            </a:r>
          </a:p>
          <a:p>
            <a:pPr marL="742950" lvl="1" indent="-252000">
              <a:buFontTx/>
              <a:buAutoNum type="romanUcPeriod"/>
            </a:pPr>
            <a:r>
              <a:rPr lang="ko-KR" altLang="en-US" dirty="0"/>
              <a:t>목차를 입력하십시오</a:t>
            </a:r>
            <a:r>
              <a:rPr lang="en-US" altLang="ko-KR" dirty="0"/>
              <a:t> (8~15pt)</a:t>
            </a:r>
          </a:p>
        </p:txBody>
      </p:sp>
      <p:sp>
        <p:nvSpPr>
          <p:cNvPr id="6" name="직사각형 5"/>
          <p:cNvSpPr/>
          <p:nvPr userDrawn="1"/>
        </p:nvSpPr>
        <p:spPr>
          <a:xfrm flipV="1">
            <a:off x="0" y="1079500"/>
            <a:ext cx="9906000" cy="4571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F58220"/>
              </a:solidFill>
            </a:endParaRP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563356" y="451902"/>
            <a:ext cx="3976208" cy="3651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lang="en-US" altLang="ko-KR" sz="1200" baseline="0" dirty="0">
                <a:solidFill>
                  <a:srgbClr val="00427A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pPr marL="0" lvl="0">
              <a:spcBef>
                <a:spcPct val="0"/>
              </a:spcBef>
            </a:pPr>
            <a:r>
              <a:rPr lang="en-US" altLang="ko-KR"/>
              <a:t>| </a:t>
            </a:r>
            <a:r>
              <a:rPr lang="ko-KR" altLang="en-US" dirty="0"/>
              <a:t>문서제목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1423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Type B_Regu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411749" y="417788"/>
            <a:ext cx="8915400" cy="40943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2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텍스트를 입력하십시오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1749" y="959321"/>
            <a:ext cx="8915400" cy="5166844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3C3C3B"/>
                </a:solidFill>
                <a:latin typeface="+mn-ea"/>
                <a:ea typeface="+mn-ea"/>
                <a:cs typeface="KoPub돋움체_Pro Medium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(8~15pt)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297CDF0-465B-7444-B6A4-945AA99865C5}"/>
              </a:ext>
            </a:extLst>
          </p:cNvPr>
          <p:cNvSpPr txBox="1">
            <a:spLocks/>
          </p:cNvSpPr>
          <p:nvPr userDrawn="1"/>
        </p:nvSpPr>
        <p:spPr>
          <a:xfrm>
            <a:off x="6767153" y="6452375"/>
            <a:ext cx="2668809" cy="2743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800" b="0" dirty="0" err="1">
                <a:solidFill>
                  <a:schemeClr val="tx1"/>
                </a:solidFill>
                <a:latin typeface="+mn-ea"/>
                <a:ea typeface="+mn-ea"/>
              </a:rPr>
              <a:t>Mirae</a:t>
            </a:r>
            <a:r>
              <a:rPr lang="en-US" altLang="ko-KR" sz="800" b="0" dirty="0">
                <a:solidFill>
                  <a:schemeClr val="tx1"/>
                </a:solidFill>
                <a:latin typeface="+mn-ea"/>
                <a:ea typeface="+mn-ea"/>
              </a:rPr>
              <a:t> Asset Life Insurance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0B7F41E-9BF7-A344-8B56-9A61DA1B8718}"/>
              </a:ext>
            </a:extLst>
          </p:cNvPr>
          <p:cNvSpPr txBox="1">
            <a:spLocks/>
          </p:cNvSpPr>
          <p:nvPr userDrawn="1"/>
        </p:nvSpPr>
        <p:spPr>
          <a:xfrm>
            <a:off x="346315" y="6452375"/>
            <a:ext cx="3985209" cy="2743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04794E-FFA6-4947-8C4C-8E1008B300FF}" type="slidenum">
              <a:rPr lang="nl-NL" sz="800" b="0" i="0" kern="1200" smtClean="0">
                <a:solidFill>
                  <a:schemeClr val="tx1"/>
                </a:solidFill>
                <a:latin typeface="+mn-ea"/>
                <a:ea typeface="+mn-ea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nl-NL" altLang="ko-KR" sz="800" b="0" i="0" kern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6" name="직선 연결선 2">
            <a:extLst>
              <a:ext uri="{FF2B5EF4-FFF2-40B4-BE49-F238E27FC236}">
                <a16:creationId xmlns:a16="http://schemas.microsoft.com/office/drawing/2014/main" id="{22D528F1-BE2E-1349-890D-D578D1503FE1}"/>
              </a:ext>
            </a:extLst>
          </p:cNvPr>
          <p:cNvCxnSpPr/>
          <p:nvPr userDrawn="1"/>
        </p:nvCxnSpPr>
        <p:spPr>
          <a:xfrm>
            <a:off x="411749" y="6324600"/>
            <a:ext cx="8915400" cy="0"/>
          </a:xfrm>
          <a:prstGeom prst="line">
            <a:avLst/>
          </a:prstGeom>
          <a:ln w="3175">
            <a:solidFill>
              <a:srgbClr val="E3E4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160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뒷표지_Ty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42950" y="2906713"/>
            <a:ext cx="8420100" cy="150018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3000" b="0" i="0" baseline="0">
                <a:solidFill>
                  <a:srgbClr val="F58125"/>
                </a:solidFill>
                <a:latin typeface="+mj-ea"/>
                <a:ea typeface="+mj-ea"/>
                <a:cs typeface="Noto Sans" panose="020B0802040504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감사합니다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00525" y="5648896"/>
            <a:ext cx="1709186" cy="68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572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174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5" r:id="rId2"/>
    <p:sldLayoutId id="2147483683" r:id="rId3"/>
    <p:sldLayoutId id="2147483697" r:id="rId4"/>
  </p:sldLayoutIdLst>
  <p:hf hdr="0" ftr="0" dt="0"/>
  <p:txStyles>
    <p:titleStyle>
      <a:lvl1pPr algn="ctr" defTabSz="4572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Noto Sans"/>
          <a:ea typeface="+mj-ea"/>
          <a:cs typeface="Noto Sans"/>
        </a:defRPr>
      </a:lvl1pPr>
    </p:titleStyle>
    <p:bodyStyle>
      <a:lvl1pPr marL="342900" indent="-342900" algn="l" defTabSz="4572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Noto Sans"/>
          <a:ea typeface="+mn-ea"/>
          <a:cs typeface="Noto Sans"/>
        </a:defRPr>
      </a:lvl1pPr>
      <a:lvl2pPr marL="742950" indent="-285750" algn="l" defTabSz="4572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Noto Sans"/>
          <a:ea typeface="+mn-ea"/>
          <a:cs typeface="Noto Sans"/>
        </a:defRPr>
      </a:lvl2pPr>
      <a:lvl3pPr marL="1143000" indent="-228600" algn="l" defTabSz="4572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Noto Sans"/>
          <a:ea typeface="+mn-ea"/>
          <a:cs typeface="Noto Sans"/>
        </a:defRPr>
      </a:lvl3pPr>
      <a:lvl4pPr marL="1600200" indent="-228600" algn="l" defTabSz="4572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Noto Sans"/>
          <a:ea typeface="+mn-ea"/>
          <a:cs typeface="Noto Sans"/>
        </a:defRPr>
      </a:lvl4pPr>
      <a:lvl5pPr marL="2057400" indent="-228600" algn="l" defTabSz="4572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Noto Sans"/>
          <a:ea typeface="+mn-ea"/>
          <a:cs typeface="Noto Sans"/>
        </a:defRPr>
      </a:lvl5pPr>
      <a:lvl6pPr marL="2514600" indent="-228600" algn="l" defTabSz="4572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7789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06425" y="457267"/>
            <a:ext cx="1459581" cy="409433"/>
          </a:xfrm>
          <a:prstGeom prst="rect">
            <a:avLst/>
          </a:prstGeom>
        </p:spPr>
        <p:txBody>
          <a:bodyPr/>
          <a:lstStyle>
            <a:lvl1pPr algn="ctr" defTabSz="4572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Noto Sans"/>
                <a:ea typeface="+mj-ea"/>
                <a:cs typeface="Noto Sans"/>
              </a:defRPr>
            </a:lvl1pPr>
          </a:lstStyle>
          <a:p>
            <a:pPr algn="l"/>
            <a:r>
              <a:rPr lang="en-US" altLang="ko-KR" sz="1500">
                <a:solidFill>
                  <a:srgbClr val="00427A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Contents</a:t>
            </a:r>
            <a:endParaRPr lang="ko-KR" altLang="en-US" sz="1500" dirty="0">
              <a:solidFill>
                <a:srgbClr val="00427A"/>
              </a:solidFill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8776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6A7A7-A114-A847-B3FD-ADA40B22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29BBA9-AB58-EA41-8107-328105F79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graphicFrame>
        <p:nvGraphicFramePr>
          <p:cNvPr id="5" name="차트 5">
            <a:extLst>
              <a:ext uri="{FF2B5EF4-FFF2-40B4-BE49-F238E27FC236}">
                <a16:creationId xmlns:a16="http://schemas.microsoft.com/office/drawing/2014/main" id="{47088724-F70D-4640-ADE0-0F17E46CB698}"/>
              </a:ext>
            </a:extLst>
          </p:cNvPr>
          <p:cNvGraphicFramePr/>
          <p:nvPr/>
        </p:nvGraphicFramePr>
        <p:xfrm>
          <a:off x="2057668" y="1686448"/>
          <a:ext cx="5682143" cy="3788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90429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B49BA-2CD4-8E49-B48A-FD1BD6BA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09A8DE-06C7-C24B-A2D3-42B69AFB7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graphicFrame>
        <p:nvGraphicFramePr>
          <p:cNvPr id="5" name="차트 6">
            <a:extLst>
              <a:ext uri="{FF2B5EF4-FFF2-40B4-BE49-F238E27FC236}">
                <a16:creationId xmlns:a16="http://schemas.microsoft.com/office/drawing/2014/main" id="{7EA09395-3E71-B541-B6BB-1D95884BC16D}"/>
              </a:ext>
            </a:extLst>
          </p:cNvPr>
          <p:cNvGraphicFramePr/>
          <p:nvPr/>
        </p:nvGraphicFramePr>
        <p:xfrm>
          <a:off x="1683957" y="1782475"/>
          <a:ext cx="6038457" cy="4025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72478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CC406A-8F0D-AA4C-9A3C-1563789B8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2BA816-749C-BB41-AC1F-0A296BA1C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7B6CD21F-79D6-854E-A576-0E0B062C3667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660727" y="2687320"/>
          <a:ext cx="658454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849">
                  <a:extLst>
                    <a:ext uri="{9D8B030D-6E8A-4147-A177-3AD203B41FA5}">
                      <a16:colId xmlns:a16="http://schemas.microsoft.com/office/drawing/2014/main" val="276660586"/>
                    </a:ext>
                  </a:extLst>
                </a:gridCol>
                <a:gridCol w="2194849">
                  <a:extLst>
                    <a:ext uri="{9D8B030D-6E8A-4147-A177-3AD203B41FA5}">
                      <a16:colId xmlns:a16="http://schemas.microsoft.com/office/drawing/2014/main" val="2463583887"/>
                    </a:ext>
                  </a:extLst>
                </a:gridCol>
                <a:gridCol w="2194849">
                  <a:extLst>
                    <a:ext uri="{9D8B030D-6E8A-4147-A177-3AD203B41FA5}">
                      <a16:colId xmlns:a16="http://schemas.microsoft.com/office/drawing/2014/main" val="4125409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ko-Kore-KR" altLang="en-US" sz="1200" b="0" i="0" dirty="0">
                        <a:solidFill>
                          <a:schemeClr val="tx1"/>
                        </a:solidFill>
                        <a:latin typeface="KoPubDotum_Pro Medium" pitchFamily="2" charset="-127"/>
                        <a:ea typeface="KoPubDotum_Pro Medium" pitchFamily="2" charset="-127"/>
                        <a:cs typeface="KoPubWorldDotum_Pro Medium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2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1</a:t>
                      </a:r>
                      <a:r>
                        <a:rPr lang="ko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분기</a:t>
                      </a:r>
                      <a:endParaRPr lang="ko-Kore-KR" altLang="en-US" sz="1200" b="0" i="0" dirty="0">
                        <a:solidFill>
                          <a:schemeClr val="tx1"/>
                        </a:solidFill>
                        <a:latin typeface="KoPubDotum_Pro Medium" pitchFamily="2" charset="-127"/>
                        <a:ea typeface="KoPubDotum_Pro Medium" pitchFamily="2" charset="-127"/>
                        <a:cs typeface="KoPubWorldDotum_Pro Medium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2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2</a:t>
                      </a:r>
                      <a:r>
                        <a:rPr lang="ko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분기</a:t>
                      </a:r>
                      <a:endParaRPr lang="ko-Kore-KR" altLang="en-US" sz="1200" b="0" i="0" dirty="0">
                        <a:solidFill>
                          <a:schemeClr val="tx1"/>
                        </a:solidFill>
                        <a:latin typeface="KoPubDotum_Pro Medium" pitchFamily="2" charset="-127"/>
                        <a:ea typeface="KoPubDotum_Pro Medium" pitchFamily="2" charset="-127"/>
                        <a:cs typeface="KoPubWorldDotum_Pro Medium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2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576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922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244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518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433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7D772-4797-3F4B-ADA1-0499180B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777A5E-BD2B-3544-8CCA-D4A952A68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84208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309287"/>
      </p:ext>
    </p:extLst>
  </p:cSld>
  <p:clrMapOvr>
    <a:masterClrMapping/>
  </p:clrMapOvr>
</p:sld>
</file>

<file path=ppt/theme/theme1.xml><?xml version="1.0" encoding="utf-8"?>
<a:theme xmlns:a="http://schemas.openxmlformats.org/drawingml/2006/main" name="미래에셋자산운용_PPT_Full2">
  <a:themeElements>
    <a:clrScheme name="사용자 지정 1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6600"/>
      </a:accent1>
      <a:accent2>
        <a:srgbClr val="182C4D"/>
      </a:accent2>
      <a:accent3>
        <a:srgbClr val="00A9CE"/>
      </a:accent3>
      <a:accent4>
        <a:srgbClr val="0086B8"/>
      </a:accent4>
      <a:accent5>
        <a:srgbClr val="8DC8E8"/>
      </a:accent5>
      <a:accent6>
        <a:srgbClr val="AE634E"/>
      </a:accent6>
      <a:hlink>
        <a:srgbClr val="A0A6A8"/>
      </a:hlink>
      <a:folHlink>
        <a:srgbClr val="800080"/>
      </a:folHlink>
    </a:clrScheme>
    <a:fontScheme name="사용자 지정 9">
      <a:majorFont>
        <a:latin typeface="KoPub돋움체_Pro Bold"/>
        <a:ea typeface="KoPub돋움체_Pro Bold"/>
        <a:cs typeface=""/>
      </a:majorFont>
      <a:minorFont>
        <a:latin typeface="KoPub돋움체_Pro Medium"/>
        <a:ea typeface="KoPub돋움체_Pro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미래에셋그룹_PPT_추천조합_D.potx" id="{F72B1225-1438-483F-B519-9BF370B78C74}" vid="{5FBB623F-25B0-4AF6-A16B-248746096C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미래에셋금융그룹_PPT_추천조합_D</Template>
  <TotalTime>2245</TotalTime>
  <Words>18</Words>
  <Application>Microsoft Office PowerPoint</Application>
  <PresentationFormat>A4 용지(210x297mm)</PresentationFormat>
  <Paragraphs>14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KoPubDotum_Pro Medium</vt:lpstr>
      <vt:lpstr>KoPubWorldDotum_Pro Medium</vt:lpstr>
      <vt:lpstr>KoPub돋움체_Pro Bold</vt:lpstr>
      <vt:lpstr>KoPub돋움체_Pro Medium</vt:lpstr>
      <vt:lpstr>Arial</vt:lpstr>
      <vt:lpstr>Calibri</vt:lpstr>
      <vt:lpstr>Noto Sans</vt:lpstr>
      <vt:lpstr>미래에셋자산운용_PPT_Full2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미래에셋 VI 가이드라인 개정(안)</dc:title>
  <dc:creator>Cho, Hye Lin (조혜린)</dc:creator>
  <cp:lastModifiedBy>sooyoung Jeon (전수영)</cp:lastModifiedBy>
  <cp:revision>208</cp:revision>
  <cp:lastPrinted>2020-04-08T23:41:00Z</cp:lastPrinted>
  <dcterms:created xsi:type="dcterms:W3CDTF">2020-03-24T00:43:30Z</dcterms:created>
  <dcterms:modified xsi:type="dcterms:W3CDTF">2020-05-18T01:25:20Z</dcterms:modified>
</cp:coreProperties>
</file>